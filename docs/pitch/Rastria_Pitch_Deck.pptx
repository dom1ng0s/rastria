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926080" cy="2926080"/>
          </a:xfrm>
          <a:prstGeom prst="ellipse">
            <a:avLst/>
          </a:prstGeom>
          <a:solidFill>
            <a:srgbClr val="F2F8F6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4" name="Image 0" descr="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2676" y="2103120"/>
            <a:ext cx="5943600" cy="12424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324612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saúde e conexão com profissionais qualificados, em um só lugar.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37276" y="3977640"/>
            <a:ext cx="914400" cy="0"/>
          </a:xfrm>
          <a:prstGeom prst="line">
            <a:avLst/>
          </a:prstGeom>
          <a:noFill/>
          <a:ln w="31750">
            <a:solidFill>
              <a:srgbClr val="FF6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603504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·  Programa Centelha 3 — Alagoas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acompanhamento de saúde hoje é fragmentado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2F8F6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2125980"/>
            <a:ext cx="502920" cy="502920"/>
          </a:xfrm>
          <a:prstGeom prst="ellipse">
            <a:avLst/>
          </a:prstGeom>
          <a:solidFill>
            <a:srgbClr val="14B892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2125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pessoa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Exames, avaliações e testes físicos ficam espalhados entre clínicas, laboratórios e academias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centralizado, é difícil identificar tendências ao longo do tempo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orientação profissional depende de agendamento prévio, mesmo diante de um resultado alterado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2F8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23660" y="212598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6423660" y="2125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04088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instituições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forças policiais e órgãos públicos são legalmente obrigados a acompanhar a saúde de seus integrantes (NR-7 / PCMSO)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acompanhamento hoje é manual, fragmentado e sem ferramenta digital dedicada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de saúde é dado sensível — exposição inadequada gera risco jurídico (LGPD) e discriminatório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Rastria: histórico de saúde, verificado e conectado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9536" y="210312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2F8F6"/>
          </a:solidFill>
          <a:ln/>
        </p:spPr>
      </p:sp>
      <p:sp>
        <p:nvSpPr>
          <p:cNvPr id="5" name="Shape 3"/>
          <p:cNvSpPr/>
          <p:nvPr/>
        </p:nvSpPr>
        <p:spPr>
          <a:xfrm>
            <a:off x="2139696" y="2446020"/>
            <a:ext cx="685800" cy="685800"/>
          </a:xfrm>
          <a:prstGeom prst="ellipse">
            <a:avLst/>
          </a:prstGeom>
          <a:solidFill>
            <a:srgbClr val="14B892"/>
          </a:solidFill>
          <a:ln/>
        </p:spPr>
      </p:sp>
      <p:sp>
        <p:nvSpPr>
          <p:cNvPr id="6" name="Text 4"/>
          <p:cNvSpPr/>
          <p:nvPr/>
        </p:nvSpPr>
        <p:spPr>
          <a:xfrm>
            <a:off x="2139696" y="24460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9536" y="3337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9576" y="37947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 laboratoriais, avaliações cardiológicas, bioimpedância e desempenho físico (corrida, natação, testes de resistência)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33088" y="3520440"/>
            <a:ext cx="310896" cy="320040"/>
          </a:xfrm>
          <a:prstGeom prst="rightArrow">
            <a:avLst/>
          </a:prstGeom>
          <a:solidFill>
            <a:srgbClr val="D8E6E2"/>
          </a:solidFill>
          <a:ln/>
        </p:spPr>
      </p:sp>
      <p:sp>
        <p:nvSpPr>
          <p:cNvPr id="10" name="Shape 8"/>
          <p:cNvSpPr/>
          <p:nvPr/>
        </p:nvSpPr>
        <p:spPr>
          <a:xfrm>
            <a:off x="4471416" y="210312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2F8F6"/>
          </a:solidFill>
          <a:ln/>
        </p:spPr>
      </p:sp>
      <p:sp>
        <p:nvSpPr>
          <p:cNvPr id="11" name="Shape 9"/>
          <p:cNvSpPr/>
          <p:nvPr/>
        </p:nvSpPr>
        <p:spPr>
          <a:xfrm>
            <a:off x="5751576" y="2446020"/>
            <a:ext cx="685800" cy="685800"/>
          </a:xfrm>
          <a:prstGeom prst="ellipse">
            <a:avLst/>
          </a:prstGeom>
          <a:solidFill>
            <a:srgbClr val="0C4A44"/>
          </a:solidFill>
          <a:ln/>
        </p:spPr>
      </p:sp>
      <p:sp>
        <p:nvSpPr>
          <p:cNvPr id="12" name="Text 10"/>
          <p:cNvSpPr/>
          <p:nvPr/>
        </p:nvSpPr>
        <p:spPr>
          <a:xfrm>
            <a:off x="5751576" y="24460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71416" y="3337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91456" y="37947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comparados automaticamente contra tabelas de referência clínica — o usuário sabe na hora se está dentro do esperado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44968" y="3520440"/>
            <a:ext cx="310896" cy="320040"/>
          </a:xfrm>
          <a:prstGeom prst="rightArrow">
            <a:avLst/>
          </a:prstGeom>
          <a:solidFill>
            <a:srgbClr val="D8E6E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3296" y="2103120"/>
            <a:ext cx="3246120" cy="3200400"/>
          </a:xfrm>
          <a:prstGeom prst="roundRect">
            <a:avLst>
              <a:gd name="adj" fmla="val 3429"/>
            </a:avLst>
          </a:prstGeom>
          <a:solidFill>
            <a:srgbClr val="F2F8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363456" y="244602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9363456" y="24460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083296" y="3337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03336" y="37947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médicos e educadores físicos de uma rede pré-qualificada, com continuidade de cuidado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uso individual, a Rastria opera como plataforma institucional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empresas, academias, corporações militares e policiais acompanham a saúde de seus integrantes com um modelo de acesso seguro (ver próximo slide).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INSTITUCIONAL (B2B / B2G)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Acesso segmentado: privacidade por padrão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991356" y="17830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2F8F6"/>
          </a:solidFill>
          <a:ln w="15875">
            <a:solidFill>
              <a:srgbClr val="14B8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65676" y="1892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Gerente / comandante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65676" y="2258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apenas um painel agregado (ex: "92% do efetivo em dia") — nunca dado clínico individual.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94476" y="2697480"/>
            <a:ext cx="0" cy="320040"/>
          </a:xfrm>
          <a:prstGeom prst="line">
            <a:avLst/>
          </a:prstGeom>
          <a:noFill/>
          <a:ln w="12700">
            <a:solidFill>
              <a:srgbClr val="5B6B67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991356" y="301752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2F8F6"/>
          </a:solidFill>
          <a:ln w="15875">
            <a:solidFill>
              <a:srgbClr val="0C4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5676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Médico-do-trabalho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65676" y="3493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já vinculado à instituição (NR-7/PCMSO) analisa os dados individuais completos de cada integrante.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4476" y="4069080"/>
            <a:ext cx="0" cy="320040"/>
          </a:xfrm>
          <a:prstGeom prst="line">
            <a:avLst/>
          </a:prstGeom>
          <a:noFill/>
          <a:ln w="12700">
            <a:solidFill>
              <a:srgbClr val="5B6B6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991356" y="438912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2F8F6"/>
          </a:solidFill>
          <a:ln w="15875">
            <a:solidFill>
              <a:srgbClr val="FF6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5676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65676" y="4864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Cadastram exames, treinos e consultas — permanecem donos do próprio histórico.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C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risco de discriminação e de consentimento inválido em relação de subordinação (LGPD), e mantém a plataforma fora do enquadramento de "ambiente médico virtual" pleno do Parecer CFM nº 15/2026.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peças que ninguém mais entrega juntas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480560" y="1325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12280" y="1325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0" y="13258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+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institucional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9319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saúde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(Apple Health, apps de exame)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63540" y="2308860"/>
            <a:ext cx="365760" cy="365760"/>
          </a:xfrm>
          <a:prstGeom prst="ellipse">
            <a:avLst/>
          </a:prstGeom>
          <a:solidFill>
            <a:srgbClr val="C9D8D3"/>
          </a:solidFill>
          <a:ln/>
        </p:spPr>
      </p:sp>
      <p:sp>
        <p:nvSpPr>
          <p:cNvPr id="9" name="Text 7"/>
          <p:cNvSpPr/>
          <p:nvPr/>
        </p:nvSpPr>
        <p:spPr>
          <a:xfrm>
            <a:off x="5463540" y="2308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795260" y="2308860"/>
            <a:ext cx="365760" cy="365760"/>
          </a:xfrm>
          <a:prstGeom prst="ellipse">
            <a:avLst/>
          </a:prstGeom>
          <a:solidFill>
            <a:srgbClr val="ECECEC"/>
          </a:solidFill>
          <a:ln/>
        </p:spPr>
      </p:sp>
      <p:sp>
        <p:nvSpPr>
          <p:cNvPr id="11" name="Text 9"/>
          <p:cNvSpPr/>
          <p:nvPr/>
        </p:nvSpPr>
        <p:spPr>
          <a:xfrm>
            <a:off x="7795260" y="2308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10126980" y="2308860"/>
            <a:ext cx="365760" cy="365760"/>
          </a:xfrm>
          <a:prstGeom prst="ellipse">
            <a:avLst/>
          </a:prstGeom>
          <a:solidFill>
            <a:srgbClr val="EC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10126980" y="2308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39319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agendada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(Doctoralia, Conexa)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63540" y="3543300"/>
            <a:ext cx="365760" cy="365760"/>
          </a:xfrm>
          <a:prstGeom prst="ellipse">
            <a:avLst/>
          </a:prstGeom>
          <a:solidFill>
            <a:srgbClr val="EC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5463540" y="3543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795260" y="3543300"/>
            <a:ext cx="365760" cy="365760"/>
          </a:xfrm>
          <a:prstGeom prst="ellipse">
            <a:avLst/>
          </a:prstGeom>
          <a:solidFill>
            <a:srgbClr val="C9D8D3"/>
          </a:solidFill>
          <a:ln/>
        </p:spPr>
      </p:sp>
      <p:sp>
        <p:nvSpPr>
          <p:cNvPr id="18" name="Text 16"/>
          <p:cNvSpPr/>
          <p:nvPr/>
        </p:nvSpPr>
        <p:spPr>
          <a:xfrm>
            <a:off x="7795260" y="3543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0126980" y="3543300"/>
            <a:ext cx="365760" cy="365760"/>
          </a:xfrm>
          <a:prstGeom prst="ellipse">
            <a:avLst/>
          </a:prstGeom>
          <a:solidFill>
            <a:srgbClr val="ECECEC"/>
          </a:solidFill>
          <a:ln/>
        </p:spPr>
      </p:sp>
      <p:sp>
        <p:nvSpPr>
          <p:cNvPr id="20" name="Text 18"/>
          <p:cNvSpPr/>
          <p:nvPr/>
        </p:nvSpPr>
        <p:spPr>
          <a:xfrm>
            <a:off x="10126980" y="3543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11480" y="4361688"/>
            <a:ext cx="11201400" cy="1106424"/>
          </a:xfrm>
          <a:prstGeom prst="roundRect">
            <a:avLst>
              <a:gd name="adj" fmla="val 6612"/>
            </a:avLst>
          </a:prstGeom>
          <a:solidFill>
            <a:srgbClr val="0C4A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34840"/>
            <a:ext cx="39319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63540" y="4777740"/>
            <a:ext cx="365760" cy="365760"/>
          </a:xfrm>
          <a:prstGeom prst="ellipse">
            <a:avLst/>
          </a:prstGeom>
          <a:solidFill>
            <a:srgbClr val="14B892"/>
          </a:solidFill>
          <a:ln/>
        </p:spPr>
      </p:sp>
      <p:sp>
        <p:nvSpPr>
          <p:cNvPr id="24" name="Text 22"/>
          <p:cNvSpPr/>
          <p:nvPr/>
        </p:nvSpPr>
        <p:spPr>
          <a:xfrm>
            <a:off x="5463540" y="4777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5260" y="4777740"/>
            <a:ext cx="365760" cy="365760"/>
          </a:xfrm>
          <a:prstGeom prst="ellipse">
            <a:avLst/>
          </a:prstGeom>
          <a:solidFill>
            <a:srgbClr val="14B892"/>
          </a:solidFill>
          <a:ln/>
        </p:spPr>
      </p:sp>
      <p:sp>
        <p:nvSpPr>
          <p:cNvPr id="26" name="Text 24"/>
          <p:cNvSpPr/>
          <p:nvPr/>
        </p:nvSpPr>
        <p:spPr>
          <a:xfrm>
            <a:off x="7795260" y="4777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10126980" y="4777740"/>
            <a:ext cx="365760" cy="365760"/>
          </a:xfrm>
          <a:prstGeom prst="ellipse">
            <a:avLst/>
          </a:prstGeom>
          <a:solidFill>
            <a:srgbClr val="14B892"/>
          </a:solidFill>
          <a:ln/>
        </p:spPr>
      </p:sp>
      <p:sp>
        <p:nvSpPr>
          <p:cNvPr id="28" name="Text 26"/>
          <p:cNvSpPr/>
          <p:nvPr/>
        </p:nvSpPr>
        <p:spPr>
          <a:xfrm>
            <a:off x="10126980" y="4777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&amp; PÚBLICO-ALVO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mercado grande, com uma obrigação legal como porta de entrada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2356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R$ 520 bi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5236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movimentados pela saúde suplementar no Brasil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402836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US$ 504 bi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85716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do mercado global de healthtechs em 2025 (Global Market Insights)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43316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R$ 300–2.500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26196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anual de PCMSO por empresa — hoje pago sem ferramenta digital dedicada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1672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Segmentos prioritários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físicas em busca de autonomia sobre saúde e desempenho físico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 e estúdios que já acompanham índices de treino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com PCMSO obrigatório (NR-7) buscando digitalizar o processo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 policiais e corporações militares com efetivo sob acompanhamento contínuo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frentes de receita, um mesmo dado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3796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2F8F6"/>
          </a:solidFill>
          <a:ln/>
        </p:spPr>
      </p:sp>
      <p:sp>
        <p:nvSpPr>
          <p:cNvPr id="5" name="Shape 3"/>
          <p:cNvSpPr/>
          <p:nvPr/>
        </p:nvSpPr>
        <p:spPr>
          <a:xfrm>
            <a:off x="973836" y="2240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4B892"/>
          </a:solidFill>
          <a:ln/>
        </p:spPr>
      </p:sp>
      <p:sp>
        <p:nvSpPr>
          <p:cNvPr id="6" name="Text 4"/>
          <p:cNvSpPr/>
          <p:nvPr/>
        </p:nvSpPr>
        <p:spPr>
          <a:xfrm>
            <a:off x="973836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73836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Assinatura individual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3836" y="3520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ilimitado, alertas de índices e compartilhamento com profissionais e instituições.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2836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2F8F6"/>
          </a:solidFill>
          <a:ln/>
        </p:spPr>
      </p:sp>
      <p:sp>
        <p:nvSpPr>
          <p:cNvPr id="10" name="Shape 8"/>
          <p:cNvSpPr/>
          <p:nvPr/>
        </p:nvSpPr>
        <p:spPr>
          <a:xfrm>
            <a:off x="4722876" y="2240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C4A44"/>
          </a:solidFill>
          <a:ln/>
        </p:spPr>
      </p:sp>
      <p:sp>
        <p:nvSpPr>
          <p:cNvPr id="11" name="Text 9"/>
          <p:cNvSpPr/>
          <p:nvPr/>
        </p:nvSpPr>
        <p:spPr>
          <a:xfrm>
            <a:off x="4722876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/ B2G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22876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Licença institucional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22876" y="3520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por integrante ativo para empresas, academias e corporações que gerenciam saúde ocupacional.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1876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2F8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471916" y="2240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71916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71916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Comissão por atendimento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71916" y="35204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sobre consultas e orientações realizadas por profissionais da rede pré-qualificada.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&amp; GOVERNANÇA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regulatório mapeado desde o início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457200" cy="457200"/>
          </a:xfrm>
          <a:prstGeom prst="ellipse">
            <a:avLst/>
          </a:prstGeom>
          <a:solidFill>
            <a:srgbClr val="0C4A4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 — dado sensível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42316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específico, DPO e criptografia para dados de saúde; acesso individual restrito ao profissional responsável.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rgbClr val="0C4A4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18745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CFM — Parecer nº 15/2026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0" y="242316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evita o enquadramento pleno como "ambiente médico virtual": atendimentos ocorrem via rede pré-qualificada com continuidade, não sob demanda instantânea.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0C4A4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CONFEF / CREF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6634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Educadores físicos cadastrados com registro ativo verificado; escopo de orientação segregado do escopo médico.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rgbClr val="0C4A4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NR-7 / PCMSO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466344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institucional digitaliza uma obrigação legal já existente, com hierarquia de acesso já validada na prática de saúde ocupacional.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ATUAL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MVP à estrutura de telemedicina plena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3383280"/>
            <a:ext cx="9445752" cy="0"/>
          </a:xfrm>
          <a:prstGeom prst="line">
            <a:avLst/>
          </a:prstGeom>
          <a:noFill/>
          <a:ln w="25400">
            <a:solidFill>
              <a:srgbClr val="D8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3223260"/>
            <a:ext cx="320040" cy="320040"/>
          </a:xfrm>
          <a:prstGeom prst="ellipse">
            <a:avLst/>
          </a:prstGeom>
          <a:solidFill>
            <a:srgbClr val="14B892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32232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dados de saúde, verificação automática por regras e protótipo de dashboard, já publicado em rastria.up.railway.app.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04944" y="3223260"/>
            <a:ext cx="320040" cy="320040"/>
          </a:xfrm>
          <a:prstGeom prst="ellipse">
            <a:avLst/>
          </a:prstGeom>
          <a:solidFill>
            <a:srgbClr val="0C4A44"/>
          </a:solidFill>
          <a:ln/>
        </p:spPr>
      </p:sp>
      <p:sp>
        <p:nvSpPr>
          <p:cNvPr id="10" name="Text 8"/>
          <p:cNvSpPr/>
          <p:nvPr/>
        </p:nvSpPr>
        <p:spPr>
          <a:xfrm>
            <a:off x="4504944" y="32232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3407664" y="2377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Curto prazo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4824" y="3794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rede pré-qualificada de profissionais e piloto institucional (1 empresa ou grupo parceiro).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3968" y="3223260"/>
            <a:ext cx="320040" cy="3200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63968" y="32232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6266688" y="2377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Médio prazo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3848" y="3794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diretor técnico e clínico (parceria ou sócio médico), expandindo para atendimento pleno.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222992" y="3223260"/>
            <a:ext cx="320040" cy="320040"/>
          </a:xfrm>
          <a:prstGeom prst="ellipse">
            <a:avLst/>
          </a:prstGeom>
          <a:solidFill>
            <a:srgbClr val="8B8B8B"/>
          </a:solidFill>
          <a:ln/>
        </p:spPr>
      </p:sp>
      <p:sp>
        <p:nvSpPr>
          <p:cNvPr id="18" name="Text 16"/>
          <p:cNvSpPr/>
          <p:nvPr/>
        </p:nvSpPr>
        <p:spPr>
          <a:xfrm>
            <a:off x="10222992" y="32232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9125712" y="2377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Longo prazo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62872" y="3794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B2B/B2G para forças policiais, militares e grandes empresas; base de indicadores agregados por setor.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integrantes, um mesmo objetivo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0116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8F6"/>
          </a:solidFill>
          <a:ln/>
        </p:spPr>
      </p:sp>
      <p:sp>
        <p:nvSpPr>
          <p:cNvPr id="5" name="Shape 3"/>
          <p:cNvSpPr/>
          <p:nvPr/>
        </p:nvSpPr>
        <p:spPr>
          <a:xfrm>
            <a:off x="1385316" y="2331720"/>
            <a:ext cx="914400" cy="914400"/>
          </a:xfrm>
          <a:prstGeom prst="ellipse">
            <a:avLst/>
          </a:prstGeom>
          <a:solidFill>
            <a:srgbClr val="0C4A44"/>
          </a:solidFill>
          <a:ln/>
        </p:spPr>
      </p:sp>
      <p:sp>
        <p:nvSpPr>
          <p:cNvPr id="6" name="Text 4"/>
          <p:cNvSpPr/>
          <p:nvPr/>
        </p:nvSpPr>
        <p:spPr>
          <a:xfrm>
            <a:off x="1385316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Guilherme de Oliveira Pontes Pinto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4434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 (IFAL)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9856" y="20116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8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19956" y="2331720"/>
            <a:ext cx="914400" cy="914400"/>
          </a:xfrm>
          <a:prstGeom prst="ellipse">
            <a:avLst/>
          </a:prstGeom>
          <a:solidFill>
            <a:srgbClr val="14B892"/>
          </a:solidFill>
          <a:ln/>
        </p:spPr>
      </p:sp>
      <p:sp>
        <p:nvSpPr>
          <p:cNvPr id="11" name="Text 9"/>
          <p:cNvSpPr/>
          <p:nvPr/>
        </p:nvSpPr>
        <p:spPr>
          <a:xfrm>
            <a:off x="4219956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02736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 Domingos de Oliveira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02736" y="4434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Ciências da Computação (UFAL)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20116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8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054596" y="2331720"/>
            <a:ext cx="914400" cy="9144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054596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37376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Arthur Melo Gusmão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37376" y="4434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Ciências da Computação (UFAL)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89136" y="201168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2F8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889236" y="2331720"/>
            <a:ext cx="914400" cy="914400"/>
          </a:xfrm>
          <a:prstGeom prst="ellipse">
            <a:avLst/>
          </a:prstGeom>
          <a:solidFill>
            <a:srgbClr val="8B8B8B"/>
          </a:solidFill>
          <a:ln/>
        </p:spPr>
      </p:sp>
      <p:sp>
        <p:nvSpPr>
          <p:cNvPr id="21" name="Text 19"/>
          <p:cNvSpPr/>
          <p:nvPr/>
        </p:nvSpPr>
        <p:spPr>
          <a:xfrm>
            <a:off x="9889236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72016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C4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Enio Eduardo Leão da Silva Junior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72016" y="4434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 (IFAL)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F5A53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2926080" cy="2926080"/>
          </a:xfrm>
          <a:prstGeom prst="ellipse">
            <a:avLst/>
          </a:prstGeom>
          <a:solidFill>
            <a:srgbClr val="0F5A5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34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45920" y="210312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rastro dos seus dados, o caminho até o cuidado certo.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31750">
            <a:solidFill>
              <a:srgbClr val="FF6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7196" y="283464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pic>
        <p:nvPicPr>
          <p:cNvPr id="8" name="Image 0" descr="qr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796" y="3063240"/>
            <a:ext cx="1737360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516636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rastria.up.railway.app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Maceió, Alagoas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2026-08-17T17:35:09Z</dcterms:created>
  <dcterms:modified xsi:type="dcterms:W3CDTF">2026-08-17T17:35:09Z</dcterms:modified>
</cp:coreProperties>
</file>